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turtlemeck는 장시간 컴퓨터를 사용할 때 자세를 스스로 확인하기 어려운 문제를 해결하기 위해 만든 macOS 메뉴 막대 앱입니다. 별도 센서 없이 Mac 내장 카메라를 사용하고, 사용자의 바른 자세를 기준으로 변화가 계속될 때 알림을 제공합니다.</a:t>
            </a:r>
          </a:p>
          <a:p>
            <a:r>
              <a:t>시간: 20초 / 권장 화면: 앱 아이콘과 메뉴 막대 화면</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작품은 팀원의 경험에서 시작했습니다. 하루 종일 노트북 화면만 들여다보면서 목과 어깨가 나빠지는 것을 느꼈고, 최근에는 가족 중 삼촌이 목디스크로 수술을 받았습니다. 그런데 컴퓨터 작업에 집중하면 머리가 앞으로 이동하거나 상체가 구부러져도 바로 알아차리기 어렵고, 일정 시간마다 울리는 일반 알림은 현재 자세와 관계없이 사용자를 방해합니다. 그래서 인공지능 수업에서 배운 내용을 바탕으로, 별도 장비 없이 모든 노트북에 있는 웹캠 하나로 실제 자세 변화를 확인하는 도구를 만들기로 했습니다. 가족과 주변 사람들이 모두 MacBook을 사용하고 있어 macOS 전용 앱으로 개발했습니다.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turtlemeck의 목표는 목의 각도나 거리를 의료적으로 측정하는 것이 아닙니다. 사용자가 직접 잡은 중립 자세를 기준으로 두고, 평소보다 머리가 몸통 앞쪽으로 이동한 상태가 이어지는지를 확인합니다. 한 번의 불안정한 결과로 바로 경고하지 않고, 의미 있는 변화가 계속될 때만 알려 주는 자세 습관 도구입니다.</a:t>
            </a:r>
          </a:p>
          <a:p>
            <a:r>
              <a:t>시간: 40초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최초 실행 시 카메라 권한을 허용하고 바른 자세를 유지하면 개인 기준이 저장됩니다. 이후 앱은 설정한 주기에 따라 짧게 자세를 점검합니다. 사용자는 메뉴 막대에서 현재 상태와 다음 점검 시간을 볼 수 있고, 필요할 때 즉시 확인하거나 점검을 중지하고 다시 보정할 수 있습니다. 오늘의 바른 자세 시간과 주의 자세 시간도 함께 제공합니다.</a:t>
            </a:r>
          </a:p>
          <a:p>
            <a:r>
              <a:t>시간: 50초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번의 점검에서는 짧게 여러 장을 촬영합니다. 먼저 PoseNet을 사용하고 필요한 경우 Apple Vision 2D를 사용해 머리와 양쪽 어깨 위치를 찾습니다. Depth Anything V2 Small은 같은 이미지에서 물체 사이의 상대적인 가까움과 멂을 표현하는 깊이 지도를 만듭니다. 앱은 두 결과를 이용해 머리와 몸통 영역을 정하고 상대적인 자세 신호를 계산합니다. 이 값은 센티미터 같은 절대 거리가 아니라 개인의 기준 자세와 비교하기 위한 값입니다.</a:t>
            </a:r>
          </a:p>
          <a:p>
            <a:r>
              <a:t>시간: 70초 / 권장 화면: 원본 → 상체 위치 → 상대 깊이 → 최종 상태 순서 이미지</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단일 이미지에는 움직임과 카메라 노이즈가 포함될 수 있어 3장에서 5장의 결과를 모아 대표값을 사용합니다. 상체가 잘렸거나 어깨가 충분히 보이지 않고 깊이 정보가 불안정한 경우에는 해당 결과를 제외합니다. 악화 결과도 연속해서 확인될 때 주의 상태로 바꿉니다. 판단하기 어려운 입력은 정상이나 주의로 억지 분류하지 않고 판단 보류로 처리합니다.</a:t>
            </a:r>
          </a:p>
          <a:p>
            <a:r>
              <a:t>시간: 50초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모델과 판단 로직은 앱에 포함되어 있어 운영 모드의 이미지가 외부 서버로 전송되지 않습니다. 촬영 이미지 자체도 저장하지 않고 설정, 개인 기준과 자세 통계만 기기에 저장합니다. 이 앱은 자세 습관을 돕는 일반 웰니스 도구이며 질병을 진단하거나 치료하는 의료기기가 아닙니다.</a:t>
            </a:r>
          </a:p>
          <a:p>
            <a:r>
              <a:t>시간: 35초</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앱을 열면 현재 상태와 다음 점검 시간을 확인할 수 있습니다. 기준 자세는 좋은 자세를 유지한 상태에서 보정합니다. 바른 자세에서는 정상으로 표시됩니다. 점검 주기를 15초로 바꾸고 머리가 앞으로 이동한 자세를 유지하겠습니다. 한 번의 결과가 아니라 연속된 악화 결과가 확인되면 주의 상태로 바뀌고 알림이 표시됩니다. 자세를 바로잡으면 다시 정상 상태로 회복하고 오늘 요약에 상태 변화가 반영됩니다.</a:t>
            </a:r>
          </a:p>
          <a:p>
            <a:r>
              <a:t>시간: 100초 / 시연 전 카메라·알림 권한과 기준 보정 완료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프로그램은 카메라 입력, 모델 실행, 자세 신호 계산, 상태 전이, 사용자 화면과 알림을 분리했습니다. Swift와 SwiftUI를 사용하고 카메라, Vision과 Core ML 같은 macOS 기본 프레임워크를 활용했습니다. 판단 로직은 입력 품질, 개인 기준 비교와 상태 전이를 각각 테스트하며, 최종 앱은 Apple Silicon과 Intel Mac에서 실행할 수 있도록 Universal2로 패키징합니다.</a:t>
            </a:r>
          </a:p>
          <a:p>
            <a:r>
              <a:t>시간: 40초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turtlemeck는 자세를 정밀 진단하는 시스템이 아니라 사용자가 자세를 다시 떠올릴 수 있게 돕는 도구입니다. 별도 장비 없이 개인 기준과 지속되는 변화에 집중하고, 모든 분석을 기기 안에서 처리합니다. 메뉴 막대에 조용히 머물다가 필요한 순간에만 알려 주어 장시간 컴퓨터 작업 중 바른 자세 습관을 만드는 것이 이 작품의 목표입니다. 감사합니다.</a:t>
            </a:r>
          </a:p>
          <a:p>
            <a:r>
              <a:t>시간: 35초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1371600"/>
            <a:ext cx="9966960" cy="3291840"/>
          </a:xfrm>
          <a:prstGeom prst="rect">
            <a:avLst/>
          </a:prstGeom>
          <a:noFill/>
        </p:spPr>
        <p:txBody>
          <a:bodyPr wrap="square">
            <a:spAutoFit/>
          </a:bodyPr>
          <a:lstStyle/>
          <a:p>
            <a:pPr>
              <a:spcAft>
                <a:spcPts val="1400"/>
              </a:spcAft>
            </a:pPr>
            <a:r>
              <a:rPr sz="1500" b="0">
                <a:solidFill>
                  <a:srgbClr val="0F766E"/>
                </a:solidFill>
                <a:latin typeface="Pretendard"/>
                <a:ea typeface="Pretendard"/>
                <a:cs typeface="Pretendard"/>
              </a:rPr>
              <a:t>2026 컴퓨터과학과 총장배 소프트웨어경진대회</a:t>
            </a:r>
          </a:p>
          <a:p>
            <a:pPr>
              <a:spcAft>
                <a:spcPts val="1000"/>
              </a:spcAft>
            </a:pPr>
            <a:r>
              <a:rPr sz="5400" b="1">
                <a:solidFill>
                  <a:srgbClr val="1F2937"/>
                </a:solidFill>
                <a:latin typeface="Pretendard"/>
                <a:ea typeface="Pretendard"/>
                <a:cs typeface="Pretendard"/>
              </a:rPr>
              <a:t>turtlemeck</a:t>
            </a:r>
          </a:p>
          <a:p>
            <a:pPr>
              <a:spcAft>
                <a:spcPts val="2600"/>
              </a:spcAft>
            </a:pPr>
            <a:r>
              <a:rPr sz="2400" b="0">
                <a:solidFill>
                  <a:srgbClr val="6B7280"/>
                </a:solidFill>
                <a:latin typeface="Pretendard"/>
                <a:ea typeface="Pretendard"/>
                <a:cs typeface="Pretendard"/>
              </a:rPr>
              <a:t>카메라로 자세 습관을 점검하는 macOS 메뉴 막대 앱</a:t>
            </a:r>
          </a:p>
          <a:p>
            <a:pPr>
              <a:spcAft>
                <a:spcPts val="800"/>
              </a:spcAft>
              <a:buFont typeface="Arial"/>
              <a:buChar char="•"/>
            </a:pPr>
            <a:r>
              <a:rPr sz="1800" b="0">
                <a:solidFill>
                  <a:srgbClr val="1F2937"/>
                </a:solidFill>
                <a:latin typeface="Pretendard"/>
                <a:ea typeface="Pretendard"/>
                <a:cs typeface="Pretendard"/>
              </a:rPr>
              <a:t>별도 장비 없이 Mac 내장 카메라 사용</a:t>
            </a:r>
          </a:p>
          <a:p>
            <a:pPr>
              <a:spcAft>
                <a:spcPts val="800"/>
              </a:spcAft>
              <a:buFont typeface="Arial"/>
              <a:buChar char="•"/>
            </a:pPr>
            <a:r>
              <a:rPr sz="1800" b="0">
                <a:solidFill>
                  <a:srgbClr val="1F2937"/>
                </a:solidFill>
                <a:latin typeface="Pretendard"/>
                <a:ea typeface="Pretendard"/>
                <a:cs typeface="Pretendard"/>
              </a:rPr>
              <a:t>개인 기준 자세와 비교해 필요한 순간에만 알림</a:t>
            </a:r>
          </a:p>
          <a:p>
            <a:pPr>
              <a:spcAft>
                <a:spcPts val="800"/>
              </a:spcAft>
              <a:buFont typeface="Arial"/>
              <a:buChar char="•"/>
            </a:pPr>
            <a:r>
              <a:rPr sz="1800" b="0">
                <a:solidFill>
                  <a:srgbClr val="1F2937"/>
                </a:solidFill>
                <a:latin typeface="Pretendard"/>
                <a:ea typeface="Pretendard"/>
                <a:cs typeface="Pretendard"/>
              </a:rPr>
              <a:t>모든 분석은 기기 안에서 처리</a:t>
            </a:r>
          </a:p>
        </p:txBody>
      </p:sp>
      <p:sp>
        <p:nvSpPr>
          <p:cNvPr id="3" name="Rectangle 2"/>
          <p:cNvSpPr/>
          <p:nvPr/>
        </p:nvSpPr>
        <p:spPr>
          <a:xfrm>
            <a:off x="7589520" y="4480560"/>
            <a:ext cx="3840480" cy="1737360"/>
          </a:xfrm>
          <a:prstGeom prst="rect">
            <a:avLst/>
          </a:prstGeom>
          <a:solidFill>
            <a:srgbClr val="F9FAFB"/>
          </a:solidFill>
          <a:ln w="12700">
            <a:solidFill>
              <a:srgbClr val="6B72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6B7280"/>
                </a:solidFill>
                <a:latin typeface="Pretendard"/>
                <a:ea typeface="Pretendard"/>
                <a:cs typeface="Pretendard"/>
              </a:rPr>
              <a:t>[스크린샷: 앱 아이콘 + 메뉴 막대 화면]</a:t>
            </a:r>
          </a:p>
        </p:txBody>
      </p:sp>
      <p:sp>
        <p:nvSpPr>
          <p:cNvPr id="4" name="TextBox 3"/>
          <p:cNvSpPr txBox="1"/>
          <p:nvPr/>
        </p:nvSpPr>
        <p:spPr>
          <a:xfrm>
            <a:off x="1097280" y="5120640"/>
            <a:ext cx="5943600" cy="822960"/>
          </a:xfrm>
          <a:prstGeom prst="rect">
            <a:avLst/>
          </a:prstGeom>
          <a:noFill/>
        </p:spPr>
        <p:txBody>
          <a:bodyPr wrap="square">
            <a:spAutoFit/>
          </a:bodyPr>
          <a:lstStyle/>
          <a:p>
            <a:pPr>
              <a:spcAft>
                <a:spcPts val="800"/>
              </a:spcAft>
            </a:pPr>
            <a:r>
              <a:rPr sz="1400" b="0">
                <a:solidFill>
                  <a:srgbClr val="6B7280"/>
                </a:solidFill>
                <a:latin typeface="Pretendard"/>
                <a:ea typeface="Pretendard"/>
                <a:cs typeface="Pretendard"/>
              </a:rPr>
              <a:t>발표자: 김찬형  ·  팀원: 이병묵  —  한국방송통신대학교 컴퓨터과학과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개발 배경</a:t>
            </a:r>
          </a:p>
          <a:p>
            <a:pPr>
              <a:spcAft>
                <a:spcPts val="0"/>
              </a:spcAft>
            </a:pPr>
            <a:r>
              <a:rPr sz="2700" b="1">
                <a:solidFill>
                  <a:srgbClr val="1F2937"/>
                </a:solidFill>
                <a:latin typeface="Pretendard"/>
                <a:ea typeface="Pretendard"/>
                <a:cs typeface="Pretendard"/>
              </a:rPr>
              <a:t>자세는 자주 무너지지만 계속 의식하기 어렵다</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2</a:t>
            </a:r>
          </a:p>
        </p:txBody>
      </p:sp>
      <p:sp>
        <p:nvSpPr>
          <p:cNvPr id="6" name="TextBox 5"/>
          <p:cNvSpPr txBox="1"/>
          <p:nvPr/>
        </p:nvSpPr>
        <p:spPr>
          <a:xfrm>
            <a:off x="777240" y="1828800"/>
            <a:ext cx="6309360" cy="3840480"/>
          </a:xfrm>
          <a:prstGeom prst="rect">
            <a:avLst/>
          </a:prstGeom>
          <a:noFill/>
        </p:spPr>
        <p:txBody>
          <a:bodyPr wrap="square">
            <a:spAutoFit/>
          </a:bodyPr>
          <a:lstStyle/>
          <a:p>
            <a:pPr>
              <a:spcAft>
                <a:spcPts val="1800"/>
              </a:spcAft>
              <a:buFont typeface="Arial"/>
              <a:buChar char="•"/>
            </a:pPr>
            <a:r>
              <a:rPr sz="2000" b="0">
                <a:solidFill>
                  <a:srgbClr val="1F2937"/>
                </a:solidFill>
                <a:latin typeface="Pretendard"/>
                <a:ea typeface="Pretendard"/>
                <a:cs typeface="Pretendard"/>
              </a:rPr>
              <a:t>장시간 노트북 작업으로 나빠진 목·어깨, 가족의 목디스크 수술 경험</a:t>
            </a:r>
          </a:p>
          <a:p>
            <a:pPr>
              <a:spcAft>
                <a:spcPts val="1800"/>
              </a:spcAft>
              <a:buFont typeface="Arial"/>
              <a:buChar char="•"/>
            </a:pPr>
            <a:r>
              <a:rPr sz="2000" b="0">
                <a:solidFill>
                  <a:srgbClr val="1F2937"/>
                </a:solidFill>
                <a:latin typeface="Pretendard"/>
                <a:ea typeface="Pretendard"/>
                <a:cs typeface="Pretendard"/>
              </a:rPr>
              <a:t>화면에 집중하면 자세 변화를 알아차리기 어려움</a:t>
            </a:r>
          </a:p>
          <a:p>
            <a:pPr>
              <a:spcAft>
                <a:spcPts val="1800"/>
              </a:spcAft>
              <a:buFont typeface="Arial"/>
              <a:buChar char="•"/>
            </a:pPr>
            <a:r>
              <a:rPr sz="2000" b="0">
                <a:solidFill>
                  <a:srgbClr val="1F2937"/>
                </a:solidFill>
                <a:latin typeface="Pretendard"/>
                <a:ea typeface="Pretendard"/>
                <a:cs typeface="Pretendard"/>
              </a:rPr>
              <a:t>타이머 알림은 실제 자세와 관계없이 울림</a:t>
            </a:r>
          </a:p>
          <a:p>
            <a:pPr>
              <a:spcAft>
                <a:spcPts val="1800"/>
              </a:spcAft>
              <a:buFont typeface="Arial"/>
              <a:buChar char="•"/>
            </a:pPr>
            <a:r>
              <a:rPr sz="2000" b="0">
                <a:solidFill>
                  <a:srgbClr val="1F2937"/>
                </a:solidFill>
                <a:latin typeface="Pretendard"/>
                <a:ea typeface="Pretendard"/>
                <a:cs typeface="Pretendard"/>
              </a:rPr>
              <a:t>수업에서 배운 내용으로, 모든 노트북에 있는 웹캠 하나만 사용</a:t>
            </a:r>
          </a:p>
        </p:txBody>
      </p:sp>
      <p:sp>
        <p:nvSpPr>
          <p:cNvPr id="7" name="Rectangle 6"/>
          <p:cNvSpPr/>
          <p:nvPr/>
        </p:nvSpPr>
        <p:spPr>
          <a:xfrm>
            <a:off x="7406640" y="1920240"/>
            <a:ext cx="4023360" cy="3657600"/>
          </a:xfrm>
          <a:prstGeom prst="rect">
            <a:avLst/>
          </a:prstGeom>
          <a:solidFill>
            <a:srgbClr val="F9FAFB"/>
          </a:solidFill>
          <a:ln w="12700">
            <a:solidFill>
              <a:srgbClr val="6B72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6B7280"/>
                </a:solidFill>
                <a:latin typeface="Pretendard"/>
                <a:ea typeface="Pretendard"/>
                <a:cs typeface="Pretendard"/>
              </a:rPr>
              <a:t>[그림: 바른 자세 / 앞으로 기운 자세 실루엣 비교]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해결하려는 문제</a:t>
            </a:r>
          </a:p>
          <a:p>
            <a:pPr>
              <a:spcAft>
                <a:spcPts val="0"/>
              </a:spcAft>
            </a:pPr>
            <a:r>
              <a:rPr sz="2700" b="1">
                <a:solidFill>
                  <a:srgbClr val="1F2937"/>
                </a:solidFill>
                <a:latin typeface="Pretendard"/>
                <a:ea typeface="Pretendard"/>
                <a:cs typeface="Pretendard"/>
              </a:rPr>
              <a:t>측정이 아니라 습관 형성을 돕는다</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3</a:t>
            </a:r>
          </a:p>
        </p:txBody>
      </p:sp>
      <p:sp>
        <p:nvSpPr>
          <p:cNvPr id="6" name="TextBox 5"/>
          <p:cNvSpPr txBox="1"/>
          <p:nvPr/>
        </p:nvSpPr>
        <p:spPr>
          <a:xfrm>
            <a:off x="777240" y="1828800"/>
            <a:ext cx="10607040" cy="3291840"/>
          </a:xfrm>
          <a:prstGeom prst="rect">
            <a:avLst/>
          </a:prstGeom>
          <a:noFill/>
        </p:spPr>
        <p:txBody>
          <a:bodyPr wrap="square">
            <a:spAutoFit/>
          </a:bodyPr>
          <a:lstStyle/>
          <a:p>
            <a:pPr>
              <a:spcAft>
                <a:spcPts val="1600"/>
              </a:spcAft>
              <a:buFont typeface="Arial"/>
              <a:buChar char="•"/>
            </a:pPr>
            <a:r>
              <a:rPr sz="2000" b="0">
                <a:solidFill>
                  <a:srgbClr val="1F2937"/>
                </a:solidFill>
                <a:latin typeface="Pretendard"/>
                <a:ea typeface="Pretendard"/>
                <a:cs typeface="Pretendard"/>
              </a:rPr>
              <a:t>개인마다 다른 기준 자세 반영</a:t>
            </a:r>
          </a:p>
          <a:p>
            <a:pPr>
              <a:spcAft>
                <a:spcPts val="1600"/>
              </a:spcAft>
              <a:buFont typeface="Arial"/>
              <a:buChar char="•"/>
            </a:pPr>
            <a:r>
              <a:rPr sz="2000" b="0">
                <a:solidFill>
                  <a:srgbClr val="1F2937"/>
                </a:solidFill>
                <a:latin typeface="Pretendard"/>
                <a:ea typeface="Pretendard"/>
                <a:cs typeface="Pretendard"/>
              </a:rPr>
              <a:t>순간 동작보다 지속되는 변화 확인</a:t>
            </a:r>
          </a:p>
          <a:p>
            <a:pPr>
              <a:spcAft>
                <a:spcPts val="1600"/>
              </a:spcAft>
              <a:buFont typeface="Arial"/>
              <a:buChar char="•"/>
            </a:pPr>
            <a:r>
              <a:rPr sz="2000" b="0">
                <a:solidFill>
                  <a:srgbClr val="1F2937"/>
                </a:solidFill>
                <a:latin typeface="Pretendard"/>
                <a:ea typeface="Pretendard"/>
                <a:cs typeface="Pretendard"/>
              </a:rPr>
              <a:t>방해를 줄인 알림</a:t>
            </a:r>
          </a:p>
          <a:p>
            <a:pPr>
              <a:spcAft>
                <a:spcPts val="1600"/>
              </a:spcAft>
              <a:buFont typeface="Arial"/>
              <a:buChar char="•"/>
            </a:pPr>
            <a:r>
              <a:rPr sz="2000" b="0">
                <a:solidFill>
                  <a:srgbClr val="1F2937"/>
                </a:solidFill>
                <a:latin typeface="Pretendard"/>
                <a:ea typeface="Pretendard"/>
                <a:cs typeface="Pretendard"/>
              </a:rPr>
              <a:t>의료 진단이나 절대 거리 측정은 하지 않음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사용자 흐름</a:t>
            </a:r>
          </a:p>
          <a:p>
            <a:pPr>
              <a:spcAft>
                <a:spcPts val="0"/>
              </a:spcAft>
            </a:pPr>
            <a:r>
              <a:rPr sz="2700" b="1">
                <a:solidFill>
                  <a:srgbClr val="1F2937"/>
                </a:solidFill>
                <a:latin typeface="Pretendard"/>
                <a:ea typeface="Pretendard"/>
                <a:cs typeface="Pretendard"/>
              </a:rPr>
              <a:t>한 번 보정하고, 필요한 순간에 확인한다</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4</a:t>
            </a:r>
          </a:p>
        </p:txBody>
      </p:sp>
      <p:sp>
        <p:nvSpPr>
          <p:cNvPr id="6" name="Rounded Rectangle 5"/>
          <p:cNvSpPr/>
          <p:nvPr/>
        </p:nvSpPr>
        <p:spPr>
          <a:xfrm>
            <a:off x="777240" y="1874519"/>
            <a:ext cx="1965960" cy="86868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1F2937"/>
                </a:solidFill>
                <a:latin typeface="Pretendard"/>
                <a:ea typeface="Pretendard"/>
                <a:cs typeface="Pretendard"/>
              </a:rPr>
              <a:t>앱 실행</a:t>
            </a:r>
          </a:p>
        </p:txBody>
      </p:sp>
      <p:cxnSp>
        <p:nvCxnSpPr>
          <p:cNvPr id="7" name="Connector 6"/>
          <p:cNvCxnSpPr/>
          <p:nvPr/>
        </p:nvCxnSpPr>
        <p:spPr>
          <a:xfrm>
            <a:off x="2743200" y="2308859"/>
            <a:ext cx="384048" cy="0"/>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127248" y="1874519"/>
            <a:ext cx="1965960" cy="86868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1F2937"/>
                </a:solidFill>
                <a:latin typeface="Pretendard"/>
                <a:ea typeface="Pretendard"/>
                <a:cs typeface="Pretendard"/>
              </a:rPr>
              <a:t>카메라 권한</a:t>
            </a:r>
          </a:p>
        </p:txBody>
      </p:sp>
      <p:cxnSp>
        <p:nvCxnSpPr>
          <p:cNvPr id="9" name="Connector 8"/>
          <p:cNvCxnSpPr/>
          <p:nvPr/>
        </p:nvCxnSpPr>
        <p:spPr>
          <a:xfrm>
            <a:off x="5093208" y="2308859"/>
            <a:ext cx="384048" cy="0"/>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77256" y="1874519"/>
            <a:ext cx="1965960" cy="86868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1F2937"/>
                </a:solidFill>
                <a:latin typeface="Pretendard"/>
                <a:ea typeface="Pretendard"/>
                <a:cs typeface="Pretendard"/>
              </a:rPr>
              <a:t>기준 자세 보정</a:t>
            </a:r>
          </a:p>
        </p:txBody>
      </p:sp>
      <p:cxnSp>
        <p:nvCxnSpPr>
          <p:cNvPr id="11" name="Connector 10"/>
          <p:cNvCxnSpPr/>
          <p:nvPr/>
        </p:nvCxnSpPr>
        <p:spPr>
          <a:xfrm>
            <a:off x="7443216" y="2308859"/>
            <a:ext cx="384048" cy="0"/>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827264" y="1874519"/>
            <a:ext cx="1965960" cy="86868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1F2937"/>
                </a:solidFill>
                <a:latin typeface="Pretendard"/>
                <a:ea typeface="Pretendard"/>
                <a:cs typeface="Pretendard"/>
              </a:rPr>
              <a:t>주기적 점검</a:t>
            </a:r>
          </a:p>
        </p:txBody>
      </p:sp>
      <p:cxnSp>
        <p:nvCxnSpPr>
          <p:cNvPr id="13" name="Connector 12"/>
          <p:cNvCxnSpPr/>
          <p:nvPr/>
        </p:nvCxnSpPr>
        <p:spPr>
          <a:xfrm>
            <a:off x="9793224" y="2308859"/>
            <a:ext cx="384048" cy="0"/>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177272" y="1874519"/>
            <a:ext cx="1965960" cy="86868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b="1">
                <a:solidFill>
                  <a:srgbClr val="1F2937"/>
                </a:solidFill>
                <a:latin typeface="Pretendard"/>
                <a:ea typeface="Pretendard"/>
                <a:cs typeface="Pretendard"/>
              </a:rPr>
              <a:t>상태 확인·알림</a:t>
            </a:r>
          </a:p>
        </p:txBody>
      </p:sp>
      <p:sp>
        <p:nvSpPr>
          <p:cNvPr id="15" name="TextBox 14"/>
          <p:cNvSpPr txBox="1"/>
          <p:nvPr/>
        </p:nvSpPr>
        <p:spPr>
          <a:xfrm>
            <a:off x="777240" y="3200400"/>
            <a:ext cx="10607040" cy="2377440"/>
          </a:xfrm>
          <a:prstGeom prst="rect">
            <a:avLst/>
          </a:prstGeom>
          <a:noFill/>
        </p:spPr>
        <p:txBody>
          <a:bodyPr wrap="square">
            <a:spAutoFit/>
          </a:bodyPr>
          <a:lstStyle/>
          <a:p>
            <a:pPr>
              <a:spcAft>
                <a:spcPts val="1200"/>
              </a:spcAft>
              <a:buFont typeface="Arial"/>
              <a:buChar char="•"/>
            </a:pPr>
            <a:r>
              <a:rPr sz="1800" b="0">
                <a:solidFill>
                  <a:srgbClr val="1F2937"/>
                </a:solidFill>
                <a:latin typeface="Pretendard"/>
                <a:ea typeface="Pretendard"/>
                <a:cs typeface="Pretendard"/>
              </a:rPr>
              <a:t>메뉴 막대에서 현재 상태와 다음 점검 시간 확인</a:t>
            </a:r>
          </a:p>
          <a:p>
            <a:pPr>
              <a:spcAft>
                <a:spcPts val="1200"/>
              </a:spcAft>
              <a:buFont typeface="Arial"/>
              <a:buChar char="•"/>
            </a:pPr>
            <a:r>
              <a:rPr sz="1800" b="0">
                <a:solidFill>
                  <a:srgbClr val="1F2937"/>
                </a:solidFill>
                <a:latin typeface="Pretendard"/>
                <a:ea typeface="Pretendard"/>
                <a:cs typeface="Pretendard"/>
              </a:rPr>
              <a:t>점검 주기 15~180초 설정</a:t>
            </a:r>
          </a:p>
          <a:p>
            <a:pPr>
              <a:spcAft>
                <a:spcPts val="1200"/>
              </a:spcAft>
              <a:buFont typeface="Arial"/>
              <a:buChar char="•"/>
            </a:pPr>
            <a:r>
              <a:rPr sz="1800" b="0">
                <a:solidFill>
                  <a:srgbClr val="1F2937"/>
                </a:solidFill>
                <a:latin typeface="Pretendard"/>
                <a:ea typeface="Pretendard"/>
                <a:cs typeface="Pretendard"/>
              </a:rPr>
              <a:t>확인 · 중지 · 재보정 제공</a:t>
            </a:r>
          </a:p>
          <a:p>
            <a:pPr>
              <a:spcAft>
                <a:spcPts val="1200"/>
              </a:spcAft>
              <a:buFont typeface="Arial"/>
              <a:buChar char="•"/>
            </a:pPr>
            <a:r>
              <a:rPr sz="1800" b="0">
                <a:solidFill>
                  <a:srgbClr val="1F2937"/>
                </a:solidFill>
                <a:latin typeface="Pretendard"/>
                <a:ea typeface="Pretendard"/>
                <a:cs typeface="Pretendard"/>
              </a:rPr>
              <a:t>오늘의 자세 시간과 알림 횟수 제공</a:t>
            </a:r>
          </a:p>
        </p:txBody>
      </p:sp>
      <p:sp>
        <p:nvSpPr>
          <p:cNvPr id="16" name="Rectangle 15"/>
          <p:cNvSpPr/>
          <p:nvPr/>
        </p:nvSpPr>
        <p:spPr>
          <a:xfrm>
            <a:off x="7955279" y="3383280"/>
            <a:ext cx="3474720" cy="2651760"/>
          </a:xfrm>
          <a:prstGeom prst="rect">
            <a:avLst/>
          </a:prstGeom>
          <a:solidFill>
            <a:srgbClr val="F9FAFB"/>
          </a:solidFill>
          <a:ln w="12700">
            <a:solidFill>
              <a:srgbClr val="6B72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6B7280"/>
                </a:solidFill>
                <a:latin typeface="Pretendard"/>
                <a:ea typeface="Pretendard"/>
                <a:cs typeface="Pretendard"/>
              </a:rPr>
              <a:t>[스크린샷: 보정 → 정상 상태 → 오늘 요약]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분석 방법</a:t>
            </a:r>
          </a:p>
          <a:p>
            <a:pPr>
              <a:spcAft>
                <a:spcPts val="0"/>
              </a:spcAft>
            </a:pPr>
            <a:r>
              <a:rPr sz="2700" b="1">
                <a:solidFill>
                  <a:srgbClr val="1F2937"/>
                </a:solidFill>
                <a:latin typeface="Pretendard"/>
                <a:ea typeface="Pretendard"/>
                <a:cs typeface="Pretendard"/>
              </a:rPr>
              <a:t>위치와 상대 깊이를 결합해 개인 기준과 비교한다</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5</a:t>
            </a:r>
          </a:p>
        </p:txBody>
      </p:sp>
      <p:sp>
        <p:nvSpPr>
          <p:cNvPr id="6" name="Rounded Rectangle 5"/>
          <p:cNvSpPr/>
          <p:nvPr/>
        </p:nvSpPr>
        <p:spPr>
          <a:xfrm>
            <a:off x="777240" y="2350008"/>
            <a:ext cx="1691640" cy="82296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a:solidFill>
                  <a:srgbClr val="1F2937"/>
                </a:solidFill>
                <a:latin typeface="Pretendard"/>
                <a:ea typeface="Pretendard"/>
                <a:cs typeface="Pretendard"/>
              </a:rPr>
              <a:t>짧은 이미지 묶음</a:t>
            </a:r>
          </a:p>
        </p:txBody>
      </p:sp>
      <p:sp>
        <p:nvSpPr>
          <p:cNvPr id="7" name="Rounded Rectangle 6"/>
          <p:cNvSpPr/>
          <p:nvPr/>
        </p:nvSpPr>
        <p:spPr>
          <a:xfrm>
            <a:off x="2971800" y="1783080"/>
            <a:ext cx="1965960" cy="82296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F2937"/>
                </a:solidFill>
                <a:latin typeface="Pretendard"/>
                <a:ea typeface="Pretendard"/>
                <a:cs typeface="Pretendard"/>
              </a:rPr>
              <a:t>상체 위치 확인
(PoseNet · Vision)</a:t>
            </a:r>
          </a:p>
        </p:txBody>
      </p:sp>
      <p:sp>
        <p:nvSpPr>
          <p:cNvPr id="8" name="Rounded Rectangle 7"/>
          <p:cNvSpPr/>
          <p:nvPr/>
        </p:nvSpPr>
        <p:spPr>
          <a:xfrm>
            <a:off x="2971800" y="2926080"/>
            <a:ext cx="1965960" cy="82296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F2937"/>
                </a:solidFill>
                <a:latin typeface="Pretendard"/>
                <a:ea typeface="Pretendard"/>
                <a:cs typeface="Pretendard"/>
              </a:rPr>
              <a:t>상대 깊이 생성
(Depth Anything V2)</a:t>
            </a:r>
          </a:p>
        </p:txBody>
      </p:sp>
      <p:sp>
        <p:nvSpPr>
          <p:cNvPr id="9" name="Rounded Rectangle 8"/>
          <p:cNvSpPr/>
          <p:nvPr/>
        </p:nvSpPr>
        <p:spPr>
          <a:xfrm>
            <a:off x="5440680" y="2350008"/>
            <a:ext cx="1828800" cy="82296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F2937"/>
                </a:solidFill>
                <a:latin typeface="Pretendard"/>
                <a:ea typeface="Pretendard"/>
                <a:cs typeface="Pretendard"/>
              </a:rPr>
              <a:t>머리·몸통 영역
상대 신호 계산</a:t>
            </a:r>
          </a:p>
        </p:txBody>
      </p:sp>
      <p:sp>
        <p:nvSpPr>
          <p:cNvPr id="10" name="Rounded Rectangle 9"/>
          <p:cNvSpPr/>
          <p:nvPr/>
        </p:nvSpPr>
        <p:spPr>
          <a:xfrm>
            <a:off x="7772400" y="2350008"/>
            <a:ext cx="1737360" cy="82296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1">
                <a:solidFill>
                  <a:srgbClr val="1F2937"/>
                </a:solidFill>
                <a:latin typeface="Pretendard"/>
                <a:ea typeface="Pretendard"/>
                <a:cs typeface="Pretendard"/>
              </a:rPr>
              <a:t>개인 기준과 비교</a:t>
            </a:r>
          </a:p>
        </p:txBody>
      </p:sp>
      <p:sp>
        <p:nvSpPr>
          <p:cNvPr id="11" name="Rounded Rectangle 10"/>
          <p:cNvSpPr/>
          <p:nvPr/>
        </p:nvSpPr>
        <p:spPr>
          <a:xfrm>
            <a:off x="10012680" y="2350008"/>
            <a:ext cx="1600200" cy="822960"/>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1">
                <a:solidFill>
                  <a:srgbClr val="1F2937"/>
                </a:solidFill>
                <a:latin typeface="Pretendard"/>
                <a:ea typeface="Pretendard"/>
                <a:cs typeface="Pretendard"/>
              </a:rPr>
              <a:t>정상 · 주의
판단 보류</a:t>
            </a:r>
          </a:p>
        </p:txBody>
      </p:sp>
      <p:cxnSp>
        <p:nvCxnSpPr>
          <p:cNvPr id="12" name="Connector 11"/>
          <p:cNvCxnSpPr/>
          <p:nvPr/>
        </p:nvCxnSpPr>
        <p:spPr>
          <a:xfrm flipV="1">
            <a:off x="2468880" y="2194560"/>
            <a:ext cx="502920" cy="566928"/>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468880" y="2761488"/>
            <a:ext cx="502920" cy="576072"/>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937760" y="2194560"/>
            <a:ext cx="502920" cy="566928"/>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937760" y="2761488"/>
            <a:ext cx="502920" cy="576072"/>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269480" y="2761488"/>
            <a:ext cx="502920" cy="0"/>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509760" y="2761488"/>
            <a:ext cx="502920" cy="0"/>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206240"/>
            <a:ext cx="10607040" cy="2011680"/>
          </a:xfrm>
          <a:prstGeom prst="rect">
            <a:avLst/>
          </a:prstGeom>
          <a:noFill/>
        </p:spPr>
        <p:txBody>
          <a:bodyPr wrap="square">
            <a:spAutoFit/>
          </a:bodyPr>
          <a:lstStyle/>
          <a:p>
            <a:pPr>
              <a:spcAft>
                <a:spcPts val="1000"/>
              </a:spcAft>
              <a:buFont typeface="Arial"/>
              <a:buChar char="•"/>
            </a:pPr>
            <a:r>
              <a:rPr sz="1700" b="0">
                <a:solidFill>
                  <a:srgbClr val="1F2937"/>
                </a:solidFill>
                <a:latin typeface="Pretendard"/>
                <a:ea typeface="Pretendard"/>
                <a:cs typeface="Pretendard"/>
              </a:rPr>
              <a:t>PoseNet과 Vision 2D — 머리와 어깨 위치 확인</a:t>
            </a:r>
          </a:p>
          <a:p>
            <a:pPr>
              <a:spcAft>
                <a:spcPts val="1000"/>
              </a:spcAft>
              <a:buFont typeface="Arial"/>
              <a:buChar char="•"/>
            </a:pPr>
            <a:r>
              <a:rPr sz="1700" b="0">
                <a:solidFill>
                  <a:srgbClr val="1F2937"/>
                </a:solidFill>
                <a:latin typeface="Pretendard"/>
                <a:ea typeface="Pretendard"/>
                <a:cs typeface="Pretendard"/>
              </a:rPr>
              <a:t>Depth Anything V2 Small — 한 이미지 안의 상대적인 가까움과 멂 표현</a:t>
            </a:r>
          </a:p>
          <a:p>
            <a:pPr>
              <a:spcAft>
                <a:spcPts val="1000"/>
              </a:spcAft>
              <a:buFont typeface="Arial"/>
              <a:buChar char="•"/>
            </a:pPr>
            <a:r>
              <a:rPr sz="1700" b="0">
                <a:solidFill>
                  <a:srgbClr val="1F2937"/>
                </a:solidFill>
                <a:latin typeface="Pretendard"/>
                <a:ea typeface="Pretendard"/>
                <a:cs typeface="Pretendard"/>
              </a:rPr>
              <a:t>자세 분석 로직 — 머리와 몸통의 상대 신호를 기준 자세와 비교</a:t>
            </a:r>
          </a:p>
          <a:p>
            <a:pPr>
              <a:spcAft>
                <a:spcPts val="1000"/>
              </a:spcAft>
              <a:buFont typeface="Arial"/>
              <a:buChar char="•"/>
            </a:pPr>
            <a:r>
              <a:rPr sz="1700" b="0">
                <a:solidFill>
                  <a:srgbClr val="0F766E"/>
                </a:solidFill>
                <a:latin typeface="Pretendard"/>
                <a:ea typeface="Pretendard"/>
                <a:cs typeface="Pretendard"/>
              </a:rPr>
              <a:t>절대 거리(cm)가 아니라 개인 기준과 비교하기 위한 상대값</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판단 안정성</a:t>
            </a:r>
          </a:p>
          <a:p>
            <a:pPr>
              <a:spcAft>
                <a:spcPts val="0"/>
              </a:spcAft>
            </a:pPr>
            <a:r>
              <a:rPr sz="2700" b="1">
                <a:solidFill>
                  <a:srgbClr val="1F2937"/>
                </a:solidFill>
                <a:latin typeface="Pretendard"/>
                <a:ea typeface="Pretendard"/>
                <a:cs typeface="Pretendard"/>
              </a:rPr>
              <a:t>애매한 입력은 나쁜 자세로 단정하지 않는다</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6</a:t>
            </a:r>
          </a:p>
        </p:txBody>
      </p:sp>
      <p:sp>
        <p:nvSpPr>
          <p:cNvPr id="6" name="TextBox 5"/>
          <p:cNvSpPr txBox="1"/>
          <p:nvPr/>
        </p:nvSpPr>
        <p:spPr>
          <a:xfrm>
            <a:off x="777240" y="1783080"/>
            <a:ext cx="5852160" cy="4023360"/>
          </a:xfrm>
          <a:prstGeom prst="rect">
            <a:avLst/>
          </a:prstGeom>
          <a:noFill/>
        </p:spPr>
        <p:txBody>
          <a:bodyPr wrap="square">
            <a:spAutoFit/>
          </a:bodyPr>
          <a:lstStyle/>
          <a:p>
            <a:pPr>
              <a:spcAft>
                <a:spcPts val="1400"/>
              </a:spcAft>
              <a:buFont typeface="Arial"/>
              <a:buChar char="•"/>
            </a:pPr>
            <a:r>
              <a:rPr sz="1900" b="0">
                <a:solidFill>
                  <a:srgbClr val="1F2937"/>
                </a:solidFill>
                <a:latin typeface="Pretendard"/>
                <a:ea typeface="Pretendard"/>
                <a:cs typeface="Pretendard"/>
              </a:rPr>
              <a:t>3~5장의 대표값 사용</a:t>
            </a:r>
          </a:p>
          <a:p>
            <a:pPr>
              <a:spcAft>
                <a:spcPts val="1400"/>
              </a:spcAft>
              <a:buFont typeface="Arial"/>
              <a:buChar char="•"/>
            </a:pPr>
            <a:r>
              <a:rPr sz="1900" b="0">
                <a:solidFill>
                  <a:srgbClr val="1F2937"/>
                </a:solidFill>
                <a:latin typeface="Pretendard"/>
                <a:ea typeface="Pretendard"/>
                <a:cs typeface="Pretendard"/>
              </a:rPr>
              <a:t>사람·상체·깊이 품질 확인</a:t>
            </a:r>
          </a:p>
          <a:p>
            <a:pPr>
              <a:spcAft>
                <a:spcPts val="1400"/>
              </a:spcAft>
              <a:buFont typeface="Arial"/>
              <a:buChar char="•"/>
            </a:pPr>
            <a:r>
              <a:rPr sz="1900" b="0">
                <a:solidFill>
                  <a:srgbClr val="1F2937"/>
                </a:solidFill>
                <a:latin typeface="Pretendard"/>
                <a:ea typeface="Pretendard"/>
                <a:cs typeface="Pretendard"/>
              </a:rPr>
              <a:t>개인 기준과 비교</a:t>
            </a:r>
          </a:p>
          <a:p>
            <a:pPr>
              <a:spcAft>
                <a:spcPts val="1400"/>
              </a:spcAft>
              <a:buFont typeface="Arial"/>
              <a:buChar char="•"/>
            </a:pPr>
            <a:r>
              <a:rPr sz="1900" b="0">
                <a:solidFill>
                  <a:srgbClr val="1F2937"/>
                </a:solidFill>
                <a:latin typeface="Pretendard"/>
                <a:ea typeface="Pretendard"/>
                <a:cs typeface="Pretendard"/>
              </a:rPr>
              <a:t>연속된 악화 결과에서만 주의 상태 확정</a:t>
            </a:r>
          </a:p>
          <a:p>
            <a:pPr>
              <a:spcAft>
                <a:spcPts val="1400"/>
              </a:spcAft>
              <a:buFont typeface="Arial"/>
              <a:buChar char="•"/>
            </a:pPr>
            <a:r>
              <a:rPr sz="1900" b="0">
                <a:solidFill>
                  <a:srgbClr val="1F2937"/>
                </a:solidFill>
                <a:latin typeface="Pretendard"/>
                <a:ea typeface="Pretendard"/>
                <a:cs typeface="Pretendard"/>
              </a:rPr>
              <a:t>판단하기 어려우면 억지 분류 대신 판단 보류</a:t>
            </a:r>
          </a:p>
        </p:txBody>
      </p:sp>
      <p:graphicFrame>
        <p:nvGraphicFramePr>
          <p:cNvPr id="7" name="Table 6"/>
          <p:cNvGraphicFramePr>
            <a:graphicFrameLocks noGrp="1"/>
          </p:cNvGraphicFramePr>
          <p:nvPr/>
        </p:nvGraphicFramePr>
        <p:xfrm>
          <a:off x="7040880" y="1965960"/>
          <a:ext cx="4480560" cy="2377440"/>
        </p:xfrm>
        <a:graphic>
          <a:graphicData uri="http://schemas.openxmlformats.org/drawingml/2006/table">
            <a:tbl>
              <a:tblPr firstRow="1" bandRow="1">
                <a:tableStyleId>{5C22544A-7EE6-4342-B048-85BDC9FD1C3A}</a:tableStyleId>
              </a:tblPr>
              <a:tblGrid>
                <a:gridCol w="1463040"/>
                <a:gridCol w="3017520"/>
              </a:tblGrid>
              <a:tr h="594360">
                <a:tc>
                  <a:txBody>
                    <a:bodyPr/>
                    <a:lstStyle/>
                    <a:p>
                      <a:r>
                        <a:rPr sz="1400" b="1">
                          <a:solidFill>
                            <a:srgbClr val="FFFFFF"/>
                          </a:solidFill>
                          <a:latin typeface="Pretendard"/>
                          <a:ea typeface="Pretendard"/>
                          <a:cs typeface="Pretendard"/>
                        </a:rPr>
                        <a:t>상태</a:t>
                      </a:r>
                    </a:p>
                  </a:txBody>
                  <a:tcPr/>
                </a:tc>
                <a:tc>
                  <a:txBody>
                    <a:bodyPr/>
                    <a:lstStyle/>
                    <a:p>
                      <a:r>
                        <a:rPr sz="1400" b="1">
                          <a:solidFill>
                            <a:srgbClr val="FFFFFF"/>
                          </a:solidFill>
                          <a:latin typeface="Pretendard"/>
                          <a:ea typeface="Pretendard"/>
                          <a:cs typeface="Pretendard"/>
                        </a:rPr>
                        <a:t>의미</a:t>
                      </a:r>
                    </a:p>
                  </a:txBody>
                  <a:tcPr/>
                </a:tc>
              </a:tr>
              <a:tr h="594360">
                <a:tc>
                  <a:txBody>
                    <a:bodyPr/>
                    <a:lstStyle/>
                    <a:p>
                      <a:r>
                        <a:rPr sz="1400" b="1">
                          <a:solidFill>
                            <a:srgbClr val="0F766E"/>
                          </a:solidFill>
                          <a:latin typeface="Pretendard"/>
                          <a:ea typeface="Pretendard"/>
                          <a:cs typeface="Pretendard"/>
                        </a:rPr>
                        <a:t>good</a:t>
                      </a:r>
                    </a:p>
                  </a:txBody>
                  <a:tcPr/>
                </a:tc>
                <a:tc>
                  <a:txBody>
                    <a:bodyPr/>
                    <a:lstStyle/>
                    <a:p>
                      <a:r>
                        <a:rPr sz="1300" b="0">
                          <a:solidFill>
                            <a:srgbClr val="1F2937"/>
                          </a:solidFill>
                          <a:latin typeface="Pretendard"/>
                          <a:ea typeface="Pretendard"/>
                          <a:cs typeface="Pretendard"/>
                        </a:rPr>
                        <a:t>기준과 비슷한 정상 자세</a:t>
                      </a:r>
                    </a:p>
                  </a:txBody>
                  <a:tcPr/>
                </a:tc>
              </a:tr>
              <a:tr h="594360">
                <a:tc>
                  <a:txBody>
                    <a:bodyPr/>
                    <a:lstStyle/>
                    <a:p>
                      <a:r>
                        <a:rPr sz="1400" b="1">
                          <a:solidFill>
                            <a:srgbClr val="B45309"/>
                          </a:solidFill>
                          <a:latin typeface="Pretendard"/>
                          <a:ea typeface="Pretendard"/>
                          <a:cs typeface="Pretendard"/>
                        </a:rPr>
                        <a:t>bad</a:t>
                      </a:r>
                    </a:p>
                  </a:txBody>
                  <a:tcPr/>
                </a:tc>
                <a:tc>
                  <a:txBody>
                    <a:bodyPr/>
                    <a:lstStyle/>
                    <a:p>
                      <a:r>
                        <a:rPr sz="1300" b="0">
                          <a:solidFill>
                            <a:srgbClr val="1F2937"/>
                          </a:solidFill>
                          <a:latin typeface="Pretendard"/>
                          <a:ea typeface="Pretendard"/>
                          <a:cs typeface="Pretendard"/>
                        </a:rPr>
                        <a:t>악화가 연속으로 확인된 주의 자세</a:t>
                      </a:r>
                    </a:p>
                  </a:txBody>
                  <a:tcPr/>
                </a:tc>
              </a:tr>
              <a:tr h="594360">
                <a:tc>
                  <a:txBody>
                    <a:bodyPr/>
                    <a:lstStyle/>
                    <a:p>
                      <a:r>
                        <a:rPr sz="1400" b="1">
                          <a:solidFill>
                            <a:srgbClr val="6B7280"/>
                          </a:solidFill>
                          <a:latin typeface="Pretendard"/>
                          <a:ea typeface="Pretendard"/>
                          <a:cs typeface="Pretendard"/>
                        </a:rPr>
                        <a:t>noEval</a:t>
                      </a:r>
                    </a:p>
                  </a:txBody>
                  <a:tcPr/>
                </a:tc>
                <a:tc>
                  <a:txBody>
                    <a:bodyPr/>
                    <a:lstStyle/>
                    <a:p>
                      <a:r>
                        <a:rPr sz="1300" b="0">
                          <a:solidFill>
                            <a:srgbClr val="1F2937"/>
                          </a:solidFill>
                          <a:latin typeface="Pretendard"/>
                          <a:ea typeface="Pretendard"/>
                          <a:cs typeface="Pretendard"/>
                        </a:rPr>
                        <a:t>판단하기 어려운 입력 — 보류</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개인정보와 적용 범위</a:t>
            </a:r>
          </a:p>
          <a:p>
            <a:pPr>
              <a:spcAft>
                <a:spcPts val="0"/>
              </a:spcAft>
            </a:pPr>
            <a:r>
              <a:rPr sz="2700" b="1">
                <a:solidFill>
                  <a:srgbClr val="1F2937"/>
                </a:solidFill>
                <a:latin typeface="Pretendard"/>
                <a:ea typeface="Pretendard"/>
                <a:cs typeface="Pretendard"/>
              </a:rPr>
              <a:t>자세 분석은 기기 안에서 끝난다</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7</a:t>
            </a:r>
          </a:p>
        </p:txBody>
      </p:sp>
      <p:sp>
        <p:nvSpPr>
          <p:cNvPr id="6" name="TextBox 5"/>
          <p:cNvSpPr txBox="1"/>
          <p:nvPr/>
        </p:nvSpPr>
        <p:spPr>
          <a:xfrm>
            <a:off x="777240" y="1828800"/>
            <a:ext cx="10607040" cy="3474720"/>
          </a:xfrm>
          <a:prstGeom prst="rect">
            <a:avLst/>
          </a:prstGeom>
          <a:noFill/>
        </p:spPr>
        <p:txBody>
          <a:bodyPr wrap="square">
            <a:spAutoFit/>
          </a:bodyPr>
          <a:lstStyle/>
          <a:p>
            <a:pPr>
              <a:spcAft>
                <a:spcPts val="1600"/>
              </a:spcAft>
              <a:buFont typeface="Arial"/>
              <a:buChar char="•"/>
            </a:pPr>
            <a:r>
              <a:rPr sz="2000" b="0">
                <a:solidFill>
                  <a:srgbClr val="1F2937"/>
                </a:solidFill>
                <a:latin typeface="Pretendard"/>
                <a:ea typeface="Pretendard"/>
                <a:cs typeface="Pretendard"/>
              </a:rPr>
              <a:t>모델과 분석 로직을 앱에 포함 — 외부 서버 전송 없음</a:t>
            </a:r>
          </a:p>
          <a:p>
            <a:pPr>
              <a:spcAft>
                <a:spcPts val="1600"/>
              </a:spcAft>
              <a:buFont typeface="Arial"/>
              <a:buChar char="•"/>
            </a:pPr>
            <a:r>
              <a:rPr sz="2000" b="0">
                <a:solidFill>
                  <a:srgbClr val="1F2937"/>
                </a:solidFill>
                <a:latin typeface="Pretendard"/>
                <a:ea typeface="Pretendard"/>
                <a:cs typeface="Pretendard"/>
              </a:rPr>
              <a:t>운영 모드에서 이미지 저장·전송 없음</a:t>
            </a:r>
          </a:p>
          <a:p>
            <a:pPr>
              <a:spcAft>
                <a:spcPts val="1600"/>
              </a:spcAft>
              <a:buFont typeface="Arial"/>
              <a:buChar char="•"/>
            </a:pPr>
            <a:r>
              <a:rPr sz="2000" b="0">
                <a:solidFill>
                  <a:srgbClr val="1F2937"/>
                </a:solidFill>
                <a:latin typeface="Pretendard"/>
                <a:ea typeface="Pretendard"/>
                <a:cs typeface="Pretendard"/>
              </a:rPr>
              <a:t>설정, 개인 기준과 자세 통계만 로컬 저장</a:t>
            </a:r>
          </a:p>
          <a:p>
            <a:pPr>
              <a:spcAft>
                <a:spcPts val="1600"/>
              </a:spcAft>
              <a:buFont typeface="Arial"/>
              <a:buChar char="•"/>
            </a:pPr>
            <a:r>
              <a:rPr sz="2000" b="0">
                <a:solidFill>
                  <a:srgbClr val="1F2937"/>
                </a:solidFill>
                <a:latin typeface="Pretendard"/>
                <a:ea typeface="Pretendard"/>
                <a:cs typeface="Pretendard"/>
              </a:rPr>
              <a:t>웰니스 알림 도구이며 의료기기가 아님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실행 시연</a:t>
            </a:r>
          </a:p>
          <a:p>
            <a:pPr>
              <a:spcAft>
                <a:spcPts val="0"/>
              </a:spcAft>
            </a:pPr>
            <a:r>
              <a:rPr sz="2700" b="1">
                <a:solidFill>
                  <a:srgbClr val="1F2937"/>
                </a:solidFill>
                <a:latin typeface="Pretendard"/>
                <a:ea typeface="Pretendard"/>
                <a:cs typeface="Pretendard"/>
              </a:rPr>
              <a:t>실제 사용 흐름</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8</a:t>
            </a:r>
          </a:p>
        </p:txBody>
      </p:sp>
      <p:sp>
        <p:nvSpPr>
          <p:cNvPr id="6" name="Rectangle 5"/>
          <p:cNvSpPr/>
          <p:nvPr/>
        </p:nvSpPr>
        <p:spPr>
          <a:xfrm>
            <a:off x="777240" y="1783080"/>
            <a:ext cx="6766560" cy="4297680"/>
          </a:xfrm>
          <a:prstGeom prst="rect">
            <a:avLst/>
          </a:prstGeom>
          <a:solidFill>
            <a:srgbClr val="F9FAFB"/>
          </a:solidFill>
          <a:ln w="12700">
            <a:solidFill>
              <a:srgbClr val="6B72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6B7280"/>
                </a:solidFill>
                <a:latin typeface="Pretendard"/>
                <a:ea typeface="Pretendard"/>
                <a:cs typeface="Pretendard"/>
              </a:rPr>
              <a:t>[라이브 시연 또는 시연 영상]
현장 판정 지연에 대비해 같은 과정을 녹화한 영상을 준비</a:t>
            </a:r>
          </a:p>
        </p:txBody>
      </p:sp>
      <p:sp>
        <p:nvSpPr>
          <p:cNvPr id="7" name="TextBox 6"/>
          <p:cNvSpPr txBox="1"/>
          <p:nvPr/>
        </p:nvSpPr>
        <p:spPr>
          <a:xfrm>
            <a:off x="7863840" y="1783080"/>
            <a:ext cx="3749039" cy="4480560"/>
          </a:xfrm>
          <a:prstGeom prst="rect">
            <a:avLst/>
          </a:prstGeom>
          <a:noFill/>
        </p:spPr>
        <p:txBody>
          <a:bodyPr wrap="square">
            <a:spAutoFit/>
          </a:bodyPr>
          <a:lstStyle/>
          <a:p>
            <a:pPr>
              <a:spcAft>
                <a:spcPts val="1000"/>
              </a:spcAft>
            </a:pPr>
            <a:r>
              <a:rPr sz="1600" b="1">
                <a:solidFill>
                  <a:srgbClr val="0F766E"/>
                </a:solidFill>
                <a:latin typeface="Pretendard"/>
                <a:ea typeface="Pretendard"/>
                <a:cs typeface="Pretendard"/>
              </a:rPr>
              <a:t>시연 순서</a:t>
            </a:r>
          </a:p>
          <a:p>
            <a:pPr>
              <a:spcAft>
                <a:spcPts val="700"/>
              </a:spcAft>
            </a:pPr>
            <a:r>
              <a:rPr sz="1400" b="0">
                <a:solidFill>
                  <a:srgbClr val="1F2937"/>
                </a:solidFill>
                <a:latin typeface="Pretendard"/>
                <a:ea typeface="Pretendard"/>
                <a:cs typeface="Pretendard"/>
              </a:rPr>
              <a:t>1. 메뉴 막대에서 앱 열기</a:t>
            </a:r>
          </a:p>
          <a:p>
            <a:pPr>
              <a:spcAft>
                <a:spcPts val="700"/>
              </a:spcAft>
            </a:pPr>
            <a:r>
              <a:rPr sz="1400" b="0">
                <a:solidFill>
                  <a:srgbClr val="1F2937"/>
                </a:solidFill>
                <a:latin typeface="Pretendard"/>
                <a:ea typeface="Pretendard"/>
                <a:cs typeface="Pretendard"/>
              </a:rPr>
              <a:t>2. 기준 자세 보정 상태 확인</a:t>
            </a:r>
          </a:p>
          <a:p>
            <a:pPr>
              <a:spcAft>
                <a:spcPts val="700"/>
              </a:spcAft>
            </a:pPr>
            <a:r>
              <a:rPr sz="1400" b="0">
                <a:solidFill>
                  <a:srgbClr val="1F2937"/>
                </a:solidFill>
                <a:latin typeface="Pretendard"/>
                <a:ea typeface="Pretendard"/>
                <a:cs typeface="Pretendard"/>
              </a:rPr>
              <a:t>3. 바른 자세에서 확인 → 정상</a:t>
            </a:r>
          </a:p>
          <a:p>
            <a:pPr>
              <a:spcAft>
                <a:spcPts val="700"/>
              </a:spcAft>
            </a:pPr>
            <a:r>
              <a:rPr sz="1400" b="0">
                <a:solidFill>
                  <a:srgbClr val="1F2937"/>
                </a:solidFill>
                <a:latin typeface="Pretendard"/>
                <a:ea typeface="Pretendard"/>
                <a:cs typeface="Pretendard"/>
              </a:rPr>
              <a:t>4. 점검 주기 15초 설정</a:t>
            </a:r>
          </a:p>
          <a:p>
            <a:pPr>
              <a:spcAft>
                <a:spcPts val="700"/>
              </a:spcAft>
            </a:pPr>
            <a:r>
              <a:rPr sz="1400" b="0">
                <a:solidFill>
                  <a:srgbClr val="1F2937"/>
                </a:solidFill>
                <a:latin typeface="Pretendard"/>
                <a:ea typeface="Pretendard"/>
                <a:cs typeface="Pretendard"/>
              </a:rPr>
              <a:t>5. 머리를 앞으로 이동해 유지</a:t>
            </a:r>
          </a:p>
          <a:p>
            <a:pPr>
              <a:spcAft>
                <a:spcPts val="700"/>
              </a:spcAft>
            </a:pPr>
            <a:r>
              <a:rPr sz="1400" b="0">
                <a:solidFill>
                  <a:srgbClr val="1F2937"/>
                </a:solidFill>
                <a:latin typeface="Pretendard"/>
                <a:ea typeface="Pretendard"/>
                <a:cs typeface="Pretendard"/>
              </a:rPr>
              <a:t>6. 주의 상태와 알림 확인</a:t>
            </a:r>
          </a:p>
          <a:p>
            <a:pPr>
              <a:spcAft>
                <a:spcPts val="700"/>
              </a:spcAft>
            </a:pPr>
            <a:r>
              <a:rPr sz="1400" b="0">
                <a:solidFill>
                  <a:srgbClr val="1F2937"/>
                </a:solidFill>
                <a:latin typeface="Pretendard"/>
                <a:ea typeface="Pretendard"/>
                <a:cs typeface="Pretendard"/>
              </a:rPr>
              <a:t>7. 자세 회복과 오늘 요약</a:t>
            </a:r>
          </a:p>
          <a:p>
            <a:pPr>
              <a:spcAft>
                <a:spcPts val="700"/>
              </a:spcAft>
            </a:pPr>
            <a:r>
              <a:rPr sz="1400" b="0">
                <a:solidFill>
                  <a:srgbClr val="1F2937"/>
                </a:solidFill>
                <a:latin typeface="Pretendard"/>
                <a:ea typeface="Pretendard"/>
                <a:cs typeface="Pretendard"/>
              </a:rPr>
              <a:t>8. 중지 · 스누즈 · 재보정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프로그램 구조</a:t>
            </a:r>
          </a:p>
          <a:p>
            <a:pPr>
              <a:spcAft>
                <a:spcPts val="0"/>
              </a:spcAft>
            </a:pPr>
            <a:r>
              <a:rPr sz="2700" b="1">
                <a:solidFill>
                  <a:srgbClr val="1F2937"/>
                </a:solidFill>
                <a:latin typeface="Pretendard"/>
                <a:ea typeface="Pretendard"/>
                <a:cs typeface="Pretendard"/>
              </a:rPr>
              <a:t>입력, 판단, 상태와 출력을 분리했다</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9</a:t>
            </a:r>
          </a:p>
        </p:txBody>
      </p:sp>
      <p:sp>
        <p:nvSpPr>
          <p:cNvPr id="6" name="Rounded Rectangle 5"/>
          <p:cNvSpPr/>
          <p:nvPr/>
        </p:nvSpPr>
        <p:spPr>
          <a:xfrm>
            <a:off x="777240" y="1783080"/>
            <a:ext cx="5120640" cy="658368"/>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0">
                <a:solidFill>
                  <a:srgbClr val="1F2937"/>
                </a:solidFill>
                <a:latin typeface="Pretendard"/>
                <a:ea typeface="Pretendard"/>
                <a:cs typeface="Pretendard"/>
              </a:rPr>
              <a:t>카메라 입력</a:t>
            </a:r>
          </a:p>
        </p:txBody>
      </p:sp>
      <p:cxnSp>
        <p:nvCxnSpPr>
          <p:cNvPr id="7" name="Connector 6"/>
          <p:cNvCxnSpPr/>
          <p:nvPr/>
        </p:nvCxnSpPr>
        <p:spPr>
          <a:xfrm>
            <a:off x="3337560" y="2441448"/>
            <a:ext cx="0" cy="256032"/>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77240" y="2697480"/>
            <a:ext cx="5120640" cy="658368"/>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0">
                <a:solidFill>
                  <a:srgbClr val="1F2937"/>
                </a:solidFill>
                <a:latin typeface="Pretendard"/>
                <a:ea typeface="Pretendard"/>
                <a:cs typeface="Pretendard"/>
              </a:rPr>
              <a:t>상체 위치 · 상대 깊이</a:t>
            </a:r>
          </a:p>
        </p:txBody>
      </p:sp>
      <p:cxnSp>
        <p:nvCxnSpPr>
          <p:cNvPr id="9" name="Connector 8"/>
          <p:cNvCxnSpPr/>
          <p:nvPr/>
        </p:nvCxnSpPr>
        <p:spPr>
          <a:xfrm>
            <a:off x="3337560" y="3355848"/>
            <a:ext cx="0" cy="256032"/>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77240" y="3611880"/>
            <a:ext cx="5120640" cy="658368"/>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0">
                <a:solidFill>
                  <a:srgbClr val="1F2937"/>
                </a:solidFill>
                <a:latin typeface="Pretendard"/>
                <a:ea typeface="Pretendard"/>
                <a:cs typeface="Pretendard"/>
              </a:rPr>
              <a:t>프레임 분석 · 여러 장 집계</a:t>
            </a:r>
          </a:p>
        </p:txBody>
      </p:sp>
      <p:cxnSp>
        <p:nvCxnSpPr>
          <p:cNvPr id="11" name="Connector 10"/>
          <p:cNvCxnSpPr/>
          <p:nvPr/>
        </p:nvCxnSpPr>
        <p:spPr>
          <a:xfrm>
            <a:off x="3337560" y="4270248"/>
            <a:ext cx="0" cy="256032"/>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4526280"/>
            <a:ext cx="5120640" cy="658368"/>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a:solidFill>
                  <a:srgbClr val="1F2937"/>
                </a:solidFill>
                <a:latin typeface="Pretendard"/>
                <a:ea typeface="Pretendard"/>
                <a:cs typeface="Pretendard"/>
              </a:rPr>
              <a:t>개인 기준 비교 · 상태 전이</a:t>
            </a:r>
          </a:p>
        </p:txBody>
      </p:sp>
      <p:cxnSp>
        <p:nvCxnSpPr>
          <p:cNvPr id="13" name="Connector 12"/>
          <p:cNvCxnSpPr/>
          <p:nvPr/>
        </p:nvCxnSpPr>
        <p:spPr>
          <a:xfrm>
            <a:off x="3337560" y="5184648"/>
            <a:ext cx="0" cy="256032"/>
          </a:xfrm>
          <a:prstGeom prst="line">
            <a:avLst/>
          </a:prstGeom>
          <a:ln w="2222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7240" y="5440680"/>
            <a:ext cx="5120640" cy="658368"/>
          </a:xfrm>
          <a:prstGeom prst="roundRect">
            <a:avLst>
              <a:gd name="adj" fmla="val 14000"/>
            </a:avLst>
          </a:prstGeom>
          <a:solidFill>
            <a:srgbClr val="F0FDFA"/>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a:solidFill>
                  <a:srgbClr val="1F2937"/>
                </a:solidFill>
                <a:latin typeface="Pretendard"/>
                <a:ea typeface="Pretendard"/>
                <a:cs typeface="Pretendard"/>
              </a:rPr>
              <a:t>메뉴 막대 UI · 알림 · 로컬 통계</a:t>
            </a:r>
          </a:p>
        </p:txBody>
      </p:sp>
      <p:sp>
        <p:nvSpPr>
          <p:cNvPr id="15" name="TextBox 14"/>
          <p:cNvSpPr txBox="1"/>
          <p:nvPr/>
        </p:nvSpPr>
        <p:spPr>
          <a:xfrm>
            <a:off x="6583680" y="2103120"/>
            <a:ext cx="4937760" cy="3840480"/>
          </a:xfrm>
          <a:prstGeom prst="rect">
            <a:avLst/>
          </a:prstGeom>
          <a:noFill/>
        </p:spPr>
        <p:txBody>
          <a:bodyPr wrap="square">
            <a:spAutoFit/>
          </a:bodyPr>
          <a:lstStyle/>
          <a:p>
            <a:pPr>
              <a:spcAft>
                <a:spcPts val="1400"/>
              </a:spcAft>
              <a:buFont typeface="Arial"/>
              <a:buChar char="•"/>
            </a:pPr>
            <a:r>
              <a:rPr sz="1800" b="0">
                <a:solidFill>
                  <a:srgbClr val="1F2937"/>
                </a:solidFill>
                <a:latin typeface="Pretendard"/>
                <a:ea typeface="Pretendard"/>
                <a:cs typeface="Pretendard"/>
              </a:rPr>
              <a:t>Swift와 SwiftUI 기반 macOS 앱</a:t>
            </a:r>
          </a:p>
          <a:p>
            <a:pPr>
              <a:spcAft>
                <a:spcPts val="1400"/>
              </a:spcAft>
              <a:buFont typeface="Arial"/>
              <a:buChar char="•"/>
            </a:pPr>
            <a:r>
              <a:rPr sz="1800" b="0">
                <a:solidFill>
                  <a:srgbClr val="1F2937"/>
                </a:solidFill>
                <a:latin typeface="Pretendard"/>
                <a:ea typeface="Pretendard"/>
                <a:cs typeface="Pretendard"/>
              </a:rPr>
              <a:t>Core ML · Vision · AVFoundation 사용</a:t>
            </a:r>
          </a:p>
          <a:p>
            <a:pPr>
              <a:spcAft>
                <a:spcPts val="1400"/>
              </a:spcAft>
              <a:buFont typeface="Arial"/>
              <a:buChar char="•"/>
            </a:pPr>
            <a:r>
              <a:rPr sz="1800" b="0">
                <a:solidFill>
                  <a:srgbClr val="1F2937"/>
                </a:solidFill>
                <a:latin typeface="Pretendard"/>
                <a:ea typeface="Pretendard"/>
                <a:cs typeface="Pretendard"/>
              </a:rPr>
              <a:t>분석 단계별 테스트와 빌드 검증</a:t>
            </a:r>
          </a:p>
          <a:p>
            <a:pPr>
              <a:spcAft>
                <a:spcPts val="1400"/>
              </a:spcAft>
              <a:buFont typeface="Arial"/>
              <a:buChar char="•"/>
            </a:pPr>
            <a:r>
              <a:rPr sz="1800" b="0">
                <a:solidFill>
                  <a:srgbClr val="1F2937"/>
                </a:solidFill>
                <a:latin typeface="Pretendard"/>
                <a:ea typeface="Pretendard"/>
                <a:cs typeface="Pretendard"/>
              </a:rPr>
              <a:t>Apple Silicon과 Intel을 포함하는 Universal2 패키지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82296" cy="56692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881360" cy="1005840"/>
          </a:xfrm>
          <a:prstGeom prst="rect">
            <a:avLst/>
          </a:prstGeom>
          <a:noFill/>
        </p:spPr>
        <p:txBody>
          <a:bodyPr wrap="square">
            <a:spAutoFit/>
          </a:bodyPr>
          <a:lstStyle/>
          <a:p>
            <a:pPr>
              <a:spcAft>
                <a:spcPts val="200"/>
              </a:spcAft>
            </a:pPr>
            <a:r>
              <a:rPr sz="1300" b="0">
                <a:solidFill>
                  <a:srgbClr val="0F766E"/>
                </a:solidFill>
                <a:latin typeface="Pretendard"/>
                <a:ea typeface="Pretendard"/>
                <a:cs typeface="Pretendard"/>
              </a:rPr>
              <a:t>결론</a:t>
            </a:r>
          </a:p>
          <a:p>
            <a:pPr>
              <a:spcAft>
                <a:spcPts val="0"/>
              </a:spcAft>
            </a:pPr>
            <a:r>
              <a:rPr sz="2700" b="1">
                <a:solidFill>
                  <a:srgbClr val="1F2937"/>
                </a:solidFill>
                <a:latin typeface="Pretendard"/>
                <a:ea typeface="Pretendard"/>
                <a:cs typeface="Pretendard"/>
              </a:rPr>
              <a:t>사용자를 감시하지 않고 자세를 떠올리게 한다</a:t>
            </a:r>
          </a:p>
        </p:txBody>
      </p:sp>
      <p:sp>
        <p:nvSpPr>
          <p:cNvPr id="4" name="TextBox 3"/>
          <p:cNvSpPr txBox="1"/>
          <p:nvPr/>
        </p:nvSpPr>
        <p:spPr>
          <a:xfrm>
            <a:off x="548640" y="6446520"/>
            <a:ext cx="7315200" cy="320040"/>
          </a:xfrm>
          <a:prstGeom prst="rect">
            <a:avLst/>
          </a:prstGeom>
          <a:noFill/>
        </p:spPr>
        <p:txBody>
          <a:bodyPr wrap="square">
            <a:spAutoFit/>
          </a:bodyPr>
          <a:lstStyle/>
          <a:p>
            <a:pPr>
              <a:spcAft>
                <a:spcPts val="0"/>
              </a:spcAft>
            </a:pPr>
            <a:r>
              <a:rPr sz="1000" b="0">
                <a:solidFill>
                  <a:srgbClr val="6B7280"/>
                </a:solidFill>
                <a:latin typeface="Pretendard"/>
                <a:ea typeface="Pretendard"/>
                <a:cs typeface="Pretendard"/>
              </a:rPr>
              <a:t>turtlemeck — 2026 컴퓨터과학과 총장배 소프트웨어경진대회</a:t>
            </a:r>
          </a:p>
        </p:txBody>
      </p:sp>
      <p:sp>
        <p:nvSpPr>
          <p:cNvPr id="5" name="TextBox 4"/>
          <p:cNvSpPr txBox="1"/>
          <p:nvPr/>
        </p:nvSpPr>
        <p:spPr>
          <a:xfrm>
            <a:off x="11292840" y="6446520"/>
            <a:ext cx="548640" cy="320040"/>
          </a:xfrm>
          <a:prstGeom prst="rect">
            <a:avLst/>
          </a:prstGeom>
          <a:noFill/>
        </p:spPr>
        <p:txBody>
          <a:bodyPr wrap="square">
            <a:spAutoFit/>
          </a:bodyPr>
          <a:lstStyle/>
          <a:p>
            <a:pPr algn="r">
              <a:spcAft>
                <a:spcPts val="0"/>
              </a:spcAft>
            </a:pPr>
            <a:r>
              <a:rPr sz="1000" b="0">
                <a:solidFill>
                  <a:srgbClr val="6B7280"/>
                </a:solidFill>
                <a:latin typeface="Pretendard"/>
                <a:ea typeface="Pretendard"/>
                <a:cs typeface="Pretendard"/>
              </a:rPr>
              <a:t>10</a:t>
            </a:r>
          </a:p>
        </p:txBody>
      </p:sp>
      <p:sp>
        <p:nvSpPr>
          <p:cNvPr id="6" name="TextBox 5"/>
          <p:cNvSpPr txBox="1"/>
          <p:nvPr/>
        </p:nvSpPr>
        <p:spPr>
          <a:xfrm>
            <a:off x="777240" y="1828800"/>
            <a:ext cx="10607040" cy="3291840"/>
          </a:xfrm>
          <a:prstGeom prst="rect">
            <a:avLst/>
          </a:prstGeom>
          <a:noFill/>
        </p:spPr>
        <p:txBody>
          <a:bodyPr wrap="square">
            <a:spAutoFit/>
          </a:bodyPr>
          <a:lstStyle/>
          <a:p>
            <a:pPr>
              <a:spcAft>
                <a:spcPts val="1600"/>
              </a:spcAft>
              <a:buFont typeface="Arial"/>
              <a:buChar char="•"/>
            </a:pPr>
            <a:r>
              <a:rPr sz="2000" b="0">
                <a:solidFill>
                  <a:srgbClr val="1F2937"/>
                </a:solidFill>
                <a:latin typeface="Pretendard"/>
                <a:ea typeface="Pretendard"/>
                <a:cs typeface="Pretendard"/>
              </a:rPr>
              <a:t>별도 장비 없는 자세 습관 도구</a:t>
            </a:r>
          </a:p>
          <a:p>
            <a:pPr>
              <a:spcAft>
                <a:spcPts val="1600"/>
              </a:spcAft>
              <a:buFont typeface="Arial"/>
              <a:buChar char="•"/>
            </a:pPr>
            <a:r>
              <a:rPr sz="2000" b="0">
                <a:solidFill>
                  <a:srgbClr val="1F2937"/>
                </a:solidFill>
                <a:latin typeface="Pretendard"/>
                <a:ea typeface="Pretendard"/>
                <a:cs typeface="Pretendard"/>
              </a:rPr>
              <a:t>개인 기준과 지속성 중심의 판단</a:t>
            </a:r>
          </a:p>
          <a:p>
            <a:pPr>
              <a:spcAft>
                <a:spcPts val="1600"/>
              </a:spcAft>
              <a:buFont typeface="Arial"/>
              <a:buChar char="•"/>
            </a:pPr>
            <a:r>
              <a:rPr sz="2000" b="0">
                <a:solidFill>
                  <a:srgbClr val="1F2937"/>
                </a:solidFill>
                <a:latin typeface="Pretendard"/>
                <a:ea typeface="Pretendard"/>
                <a:cs typeface="Pretendard"/>
              </a:rPr>
              <a:t>온디바이스 처리와 최소 저장</a:t>
            </a:r>
          </a:p>
          <a:p>
            <a:pPr>
              <a:spcAft>
                <a:spcPts val="1600"/>
              </a:spcAft>
              <a:buFont typeface="Arial"/>
              <a:buChar char="•"/>
            </a:pPr>
            <a:r>
              <a:rPr sz="2000" b="0">
                <a:solidFill>
                  <a:srgbClr val="1F2937"/>
                </a:solidFill>
                <a:latin typeface="Pretendard"/>
                <a:ea typeface="Pretendard"/>
                <a:cs typeface="Pretendard"/>
              </a:rPr>
              <a:t>macOS 작업 흐름을 방해하지 않는 메뉴 막대 앱</a:t>
            </a:r>
          </a:p>
        </p:txBody>
      </p:sp>
      <p:sp>
        <p:nvSpPr>
          <p:cNvPr id="7" name="TextBox 6"/>
          <p:cNvSpPr txBox="1"/>
          <p:nvPr/>
        </p:nvSpPr>
        <p:spPr>
          <a:xfrm>
            <a:off x="777240" y="5394960"/>
            <a:ext cx="10607040" cy="731520"/>
          </a:xfrm>
          <a:prstGeom prst="rect">
            <a:avLst/>
          </a:prstGeom>
          <a:noFill/>
        </p:spPr>
        <p:txBody>
          <a:bodyPr wrap="square">
            <a:spAutoFit/>
          </a:bodyPr>
          <a:lstStyle/>
          <a:p>
            <a:pPr>
              <a:spcAft>
                <a:spcPts val="800"/>
              </a:spcAft>
            </a:pPr>
            <a:r>
              <a:rPr sz="2200" b="1">
                <a:solidFill>
                  <a:srgbClr val="0F766E"/>
                </a:solidFill>
                <a:latin typeface="Pretendard"/>
                <a:ea typeface="Pretendard"/>
                <a:cs typeface="Pretendard"/>
              </a:rPr>
              <a:t>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